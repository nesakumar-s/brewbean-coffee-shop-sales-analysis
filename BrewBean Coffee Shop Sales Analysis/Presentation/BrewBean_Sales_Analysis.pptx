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1C1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A1C12"/>
                </a:solidFill>
                <a:latin typeface="Calibri"/>
              </a:rPr>
              <a:t>Revenue vs. Profit by Outlet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3B24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Chennai</c:v>
                  </c:pt>
                  <c:pt idx="1">
                    <c:v>Pollachi</c:v>
                  </c:pt>
                  <c:pt idx="2">
                    <c:v>Madurai</c:v>
                  </c:pt>
                  <c:pt idx="3">
                    <c:v>Coimbatore</c:v>
                  </c:pt>
                  <c:pt idx="4">
                    <c:v>Vellore</c:v>
                  </c:pt>
                  <c:pt idx="5">
                    <c:v>Thanjavur</c:v>
                  </c:pt>
                  <c:pt idx="6">
                    <c:v>Trichy</c:v>
                  </c:pt>
                  <c:pt idx="7">
                    <c:v>Salem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35800</c:v>
                </c:pt>
                <c:pt idx="1">
                  <c:v>33200</c:v>
                </c:pt>
                <c:pt idx="2">
                  <c:v>30500</c:v>
                </c:pt>
                <c:pt idx="3">
                  <c:v>27800</c:v>
                </c:pt>
                <c:pt idx="4">
                  <c:v>25100</c:v>
                </c:pt>
                <c:pt idx="5">
                  <c:v>22400</c:v>
                </c:pt>
                <c:pt idx="6">
                  <c:v>19700</c:v>
                </c:pt>
                <c:pt idx="7">
                  <c:v>17200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(₹)</c:v>
                </c:pt>
              </c:strCache>
            </c:strRef>
          </c:tx>
          <c:spPr>
            <a:solidFill>
              <a:srgbClr val="C17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Chennai</c:v>
                  </c:pt>
                  <c:pt idx="1">
                    <c:v>Pollachi</c:v>
                  </c:pt>
                  <c:pt idx="2">
                    <c:v>Madurai</c:v>
                  </c:pt>
                  <c:pt idx="3">
                    <c:v>Coimbatore</c:v>
                  </c:pt>
                  <c:pt idx="4">
                    <c:v>Vellore</c:v>
                  </c:pt>
                  <c:pt idx="5">
                    <c:v>Thanjavur</c:v>
                  </c:pt>
                  <c:pt idx="6">
                    <c:v>Trichy</c:v>
                  </c:pt>
                  <c:pt idx="7">
                    <c:v>Salem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15200</c:v>
                </c:pt>
                <c:pt idx="1">
                  <c:v>14100</c:v>
                </c:pt>
                <c:pt idx="2">
                  <c:v>12900</c:v>
                </c:pt>
                <c:pt idx="3">
                  <c:v>11600</c:v>
                </c:pt>
                <c:pt idx="4">
                  <c:v>10400</c:v>
                </c:pt>
                <c:pt idx="5">
                  <c:v>9200</c:v>
                </c:pt>
                <c:pt idx="6">
                  <c:v>8000</c:v>
                </c:pt>
                <c:pt idx="7">
                  <c:v>6900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B4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DC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5B4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1C1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A1C12"/>
                </a:solidFill>
                <a:latin typeface="Calibri"/>
              </a:rPr>
              <a:t>Top-Selling Products (Units)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C17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Fresh Juice</c:v>
                  </c:pt>
                  <c:pt idx="1">
                    <c:v>Cold Coffee</c:v>
                  </c:pt>
                  <c:pt idx="2">
                    <c:v>Sides</c:v>
                  </c:pt>
                  <c:pt idx="3">
                    <c:v>Coffee</c:v>
                  </c:pt>
                  <c:pt idx="4">
                    <c:v>Pastry</c:v>
                  </c:pt>
                  <c:pt idx="5">
                    <c:v>Frappe</c:v>
                  </c:pt>
                  <c:pt idx="6">
                    <c:v>Smoothie</c:v>
                  </c:pt>
                  <c:pt idx="7">
                    <c:v>Tea</c:v>
                  </c:pt>
                  <c:pt idx="8">
                    <c:v>Sandwich</c:v>
                  </c:pt>
                  <c:pt idx="9">
                    <c:v>Burger</c:v>
                  </c:pt>
                  <c:pt idx="10">
                    <c:v>Dessert</c:v>
                  </c:pt>
                  <c:pt idx="11">
                    <c:v>Beverage</c:v>
                  </c:pt>
                  <c:pt idx="12">
                    <c:v>Wrap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14200</c:v>
                </c:pt>
                <c:pt idx="1">
                  <c:v>12600</c:v>
                </c:pt>
                <c:pt idx="2">
                  <c:v>11100</c:v>
                </c:pt>
                <c:pt idx="3">
                  <c:v>9800</c:v>
                </c:pt>
                <c:pt idx="4">
                  <c:v>8600</c:v>
                </c:pt>
                <c:pt idx="5">
                  <c:v>7500</c:v>
                </c:pt>
                <c:pt idx="6">
                  <c:v>6600</c:v>
                </c:pt>
                <c:pt idx="7">
                  <c:v>5800</c:v>
                </c:pt>
                <c:pt idx="8">
                  <c:v>5100</c:v>
                </c:pt>
                <c:pt idx="9">
                  <c:v>4400</c:v>
                </c:pt>
                <c:pt idx="10">
                  <c:v>3800</c:v>
                </c:pt>
                <c:pt idx="11">
                  <c:v>3200</c:v>
                </c:pt>
                <c:pt idx="12">
                  <c:v>2600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400000"/>
          <a:lstStyle/>
          <a:p>
            <a:pPr>
              <a:defRPr sz="900" b="0" i="0" u="none" strike="noStrike">
                <a:solidFill>
                  <a:srgbClr val="6B5B4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DC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5B4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1C1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A1C12"/>
                </a:solidFill>
                <a:latin typeface="Calibri"/>
              </a:rPr>
              <a:t>Order Share by Hour Window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2416"/>
              </a:solidFill>
              <a:effectLst/>
            </c:spPr>
          </c:dPt>
          <c:dPt>
            <c:idx val="1"/>
            <c:bubble3D val="0"/>
            <c:spPr>
              <a:solidFill>
                <a:srgbClr val="C1793B"/>
              </a:solidFill>
              <a:effectLst/>
            </c:spPr>
          </c:dPt>
          <c:dPt>
            <c:idx val="2"/>
            <c:bubble3D val="0"/>
            <c:spPr>
              <a:solidFill>
                <a:srgbClr val="D9C7A8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7 AM – 11 PM</c:v>
                </c:pt>
                <c:pt idx="1">
                  <c:v>8 AM – 10 PM</c:v>
                </c:pt>
                <c:pt idx="2">
                  <c:v>7 AM – 10 PM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</c:v>
                </c:pt>
                <c:pt idx="1">
                  <c:v>26</c:v>
                </c:pt>
                <c:pt idx="2">
                  <c:v>12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1C1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A1C12"/>
                </a:solidFill>
                <a:latin typeface="Calibri"/>
              </a:rPr>
              <a:t>Campaign Sales Impact (Indexed)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Index</c:v>
                </c:pt>
              </c:strCache>
            </c:strRef>
          </c:tx>
          <c:spPr>
            <a:solidFill>
              <a:srgbClr val="3B2416"/>
            </a:solidFill>
            <a:ln w="31750" cap="flat">
              <a:solidFill>
                <a:srgbClr val="3B24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2416"/>
              </a:solidFill>
              <a:ln w="9525" cap="flat">
                <a:solidFill>
                  <a:srgbClr val="3B24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Christmas Delight</c:v>
                  </c:pt>
                  <c:pt idx="1">
                    <c:v>Summer Chillers</c:v>
                  </c:pt>
                  <c:pt idx="2">
                    <c:v>Coffee Lovers Week</c:v>
                  </c:pt>
                  <c:pt idx="3">
                    <c:v>Buy 1 Get 1 Coffee</c:v>
                  </c:pt>
                  <c:pt idx="4">
                    <c:v>Morning Brew Offer</c:v>
                  </c:pt>
                  <c:pt idx="5">
                    <c:v>Independence Day Combo</c:v>
                  </c:pt>
                  <c:pt idx="6">
                    <c:v>Festival Feast</c:v>
                  </c:pt>
                  <c:pt idx="7">
                    <c:v>Weekend Combo</c:v>
                  </c:pt>
                  <c:pt idx="8">
                    <c:v>Corporate Combo</c:v>
                  </c:pt>
                  <c:pt idx="9">
                    <c:v>Student Combo</c:v>
                  </c:pt>
                  <c:pt idx="10">
                    <c:v>Monsoon Special</c:v>
                  </c:pt>
                  <c:pt idx="11">
                    <c:v>Loyalty Rewards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</c:v>
                </c:pt>
                <c:pt idx="1">
                  <c:v>28</c:v>
                </c:pt>
                <c:pt idx="2">
                  <c:v>26</c:v>
                </c:pt>
                <c:pt idx="3">
                  <c:v>24</c:v>
                </c:pt>
                <c:pt idx="4">
                  <c:v>20</c:v>
                </c:pt>
                <c:pt idx="5">
                  <c:v>18</c:v>
                </c:pt>
                <c:pt idx="6">
                  <c:v>15</c:v>
                </c:pt>
                <c:pt idx="7">
                  <c:v>13</c:v>
                </c:pt>
                <c:pt idx="8">
                  <c:v>11</c:v>
                </c:pt>
                <c:pt idx="9">
                  <c:v>9</c:v>
                </c:pt>
                <c:pt idx="10">
                  <c:v>7</c:v>
                </c:pt>
                <c:pt idx="11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50" b="0" i="0" u="none" strike="noStrike">
                <a:solidFill>
                  <a:srgbClr val="6B5B4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DC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5B4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1793B"/>
              </a:solidFill>
              <a:effectLst/>
            </c:spPr>
          </c:dPt>
          <c:dPt>
            <c:idx val="1"/>
            <c:bubble3D val="0"/>
            <c:spPr>
              <a:solidFill>
                <a:srgbClr val="3B2416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54</c:v>
                </c:pt>
                <c:pt idx="1">
                  <c:v>46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1793B"/>
              </a:solidFill>
              <a:effectLst/>
            </c:spPr>
          </c:dPt>
          <c:dPt>
            <c:idx val="1"/>
            <c:bubble3D val="0"/>
            <c:spPr>
              <a:solidFill>
                <a:srgbClr val="D9C7A8"/>
              </a:solidFill>
              <a:effectLst/>
            </c:spPr>
          </c:dPt>
          <c:dPt>
            <c:idx val="2"/>
            <c:bubble3D val="0"/>
            <c:spPr>
              <a:solidFill>
                <a:srgbClr val="8A6240"/>
              </a:solidFill>
              <a:effectLst/>
            </c:spPr>
          </c:dPt>
          <c:dPt>
            <c:idx val="3"/>
            <c:bubble3D val="0"/>
            <c:spPr>
              <a:solidFill>
                <a:srgbClr val="6B5B4C"/>
              </a:solidFill>
              <a:effectLst/>
            </c:spPr>
          </c:dPt>
          <c:dPt>
            <c:idx val="4"/>
            <c:bubble3D val="0"/>
            <c:spPr>
              <a:solidFill>
                <a:srgbClr val="5A3A24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UPI</c:v>
                </c:pt>
                <c:pt idx="1">
                  <c:v>Cash</c:v>
                </c:pt>
                <c:pt idx="2">
                  <c:v>Card</c:v>
                </c:pt>
                <c:pt idx="3">
                  <c:v>PhonePe</c:v>
                </c:pt>
                <c:pt idx="4">
                  <c:v>Google Pay (all variants)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17</c:v>
                </c:pt>
                <c:pt idx="4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1C1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A1C12"/>
                </a:solidFill>
                <a:latin typeface="Calibri"/>
              </a:rPr>
              <a:t>Highest-Rated Products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 Volume</c:v>
                </c:pt>
              </c:strCache>
            </c:strRef>
          </c:tx>
          <c:spPr>
            <a:solidFill>
              <a:srgbClr val="C17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Chicken Burger</c:v>
                  </c:pt>
                  <c:pt idx="1">
                    <c:v>Iced Lemon Tea</c:v>
                  </c:pt>
                  <c:pt idx="2">
                    <c:v>Veg Burger</c:v>
                  </c:pt>
                  <c:pt idx="3">
                    <c:v>Cold Coffee Classic</c:v>
                  </c:pt>
                  <c:pt idx="4">
                    <c:v>Cold Brew</c:v>
                  </c:pt>
                  <c:pt idx="5">
                    <c:v>Chocolate Muffin</c:v>
                  </c:pt>
                  <c:pt idx="6">
                    <c:v>Lemon Tea</c:v>
                  </c:pt>
                  <c:pt idx="7">
                    <c:v>Cappuccino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138</c:v>
                </c:pt>
                <c:pt idx="1">
                  <c:v>122</c:v>
                </c:pt>
                <c:pt idx="2">
                  <c:v>108</c:v>
                </c:pt>
                <c:pt idx="3">
                  <c:v>96</c:v>
                </c:pt>
                <c:pt idx="4">
                  <c:v>84</c:v>
                </c:pt>
                <c:pt idx="5">
                  <c:v>70</c:v>
                </c:pt>
                <c:pt idx="6">
                  <c:v>58</c:v>
                </c:pt>
                <c:pt idx="7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5B4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DC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5B4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8A624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-365760"/>
            <a:ext cx="2743200" cy="2743200"/>
          </a:xfrm>
          <a:prstGeom prst="ellipse">
            <a:avLst/>
          </a:prstGeom>
          <a:solidFill>
            <a:srgbClr val="C1793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8A6240">
              <a:alpha val="2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17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CAFÉ PVT. LTD.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&amp; Customer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Analysis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51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regional review of outlet performance, product profitability, and operational efficiency across Tamil Nadu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Regional Operations Manager   |   Data Analytics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Background &amp; 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F3E9D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17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operates multiple café outlets across Tamil Nadu. Footfall is rising, but management is seeing: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sales performance across outlets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customer satisfaction and ratings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congestion at busy stores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Fluctuating profitability by product and location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3B241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691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17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1031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 data to identify revenue trends, evaluate outlet performance, understand purchasing behaviour, measure product profitability, and recommend actions that improve sales and customer experience.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0" y="3794760"/>
            <a:ext cx="256032" cy="256032"/>
          </a:xfrm>
          <a:prstGeom prst="ellipse">
            <a:avLst/>
          </a:prstGeom>
          <a:solidFill>
            <a:srgbClr val="C17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967728" y="37673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profit by outlet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4343400"/>
            <a:ext cx="256032" cy="256032"/>
          </a:xfrm>
          <a:prstGeom prst="ellipse">
            <a:avLst/>
          </a:prstGeom>
          <a:solidFill>
            <a:srgbClr val="C17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67728" y="43159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Top-selling products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0" y="4892040"/>
            <a:ext cx="256032" cy="256032"/>
          </a:xfrm>
          <a:prstGeom prst="ellipse">
            <a:avLst/>
          </a:prstGeom>
          <a:solidFill>
            <a:srgbClr val="C179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4892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67728" y="48646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 &amp; campaigns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0" y="5440680"/>
            <a:ext cx="256032" cy="256032"/>
          </a:xfrm>
          <a:prstGeom prst="ellipse">
            <a:avLst/>
          </a:prstGeom>
          <a:solidFill>
            <a:srgbClr val="C179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5440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67728" y="54132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Segments, payments &amp; ratings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Café Pvt. Ltd.  |  Sales &amp; Operations Analysis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at a Glance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from the BrewBean sales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139696" cy="1737360"/>
          </a:xfrm>
          <a:prstGeom prst="roundRect">
            <a:avLst>
              <a:gd name="adj" fmla="val 4211"/>
            </a:avLst>
          </a:prstGeom>
          <a:solidFill>
            <a:srgbClr val="F3E9D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1,24,431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(Units)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61488" y="1554480"/>
            <a:ext cx="2139696" cy="1737360"/>
          </a:xfrm>
          <a:prstGeom prst="roundRect">
            <a:avLst>
              <a:gd name="adj" fmla="val 4211"/>
            </a:avLst>
          </a:prstGeom>
          <a:solidFill>
            <a:srgbClr val="3B241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52928" y="187452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7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1,75,869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852928" y="260604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(₹)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65776" y="1554480"/>
            <a:ext cx="2139696" cy="1737360"/>
          </a:xfrm>
          <a:prstGeom prst="roundRect">
            <a:avLst>
              <a:gd name="adj" fmla="val 4211"/>
            </a:avLst>
          </a:prstGeom>
          <a:solidFill>
            <a:srgbClr val="F3E9D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57216" y="187452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9,092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157216" y="260604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(₹, in K)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70064" y="1554480"/>
            <a:ext cx="2139696" cy="1737360"/>
          </a:xfrm>
          <a:prstGeom prst="roundRect">
            <a:avLst>
              <a:gd name="adj" fmla="val 4211"/>
            </a:avLst>
          </a:prstGeom>
          <a:solidFill>
            <a:srgbClr val="F3E9D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61504" y="187452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18,126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461504" y="260604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Tracked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74352" y="1554480"/>
            <a:ext cx="2139696" cy="1737360"/>
          </a:xfrm>
          <a:prstGeom prst="roundRect">
            <a:avLst>
              <a:gd name="adj" fmla="val 4211"/>
            </a:avLst>
          </a:prstGeom>
          <a:solidFill>
            <a:srgbClr val="F3E9D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65792" y="187452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765792" y="260604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11247120" cy="2468880"/>
          </a:xfrm>
          <a:prstGeom prst="roundRect">
            <a:avLst>
              <a:gd name="adj" fmla="val 2963"/>
            </a:avLst>
          </a:prstGeom>
          <a:solidFill>
            <a:srgbClr val="FBF6EE"/>
          </a:solidFill>
          <a:ln w="12700">
            <a:solidFill>
              <a:srgbClr val="F3E9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886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17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2519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exceeding raw sales units suggests these figures blend multiple measures (units sold vs. currency) — a sign the source dataset needs standardised units before deeper modelling.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categories generating 18,126 product-level records gives a rich base for SKU-level profitability analysis.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reported in the thousands (₹9,092K ≈ ₹90.9 lakh) across the outlet network for the analysis period.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Café Pvt. Ltd.  |  Sales &amp; Operations Analysis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Outlets Generate the Highest Revenue &amp; Profit?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Outlet-wise comparison, ranked highest to lowest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3152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417320"/>
            <a:ext cx="3703320" cy="4663440"/>
          </a:xfrm>
          <a:prstGeom prst="roundRect">
            <a:avLst>
              <a:gd name="adj" fmla="val 1975"/>
            </a:avLst>
          </a:prstGeom>
          <a:solidFill>
            <a:srgbClr val="F3E9D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75320" y="1645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17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01168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leads the network in both revenue and profit, with Pollachi and Madurai close behind.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narrows steadily down the ranking — Salem converts revenue to profit least efficiently of the eight outlets.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#1 and #8 outlet is roughly 2x in revenue, pointing to uneven demand or local execution rather than a single network-wide issue.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Café Pvt. Ltd.  |  Sales &amp; Operations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Products Sell the Most?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Top-selling beverages and food items across all outlets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1323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17320"/>
            <a:ext cx="3886200" cy="4663440"/>
          </a:xfrm>
          <a:prstGeom prst="roundRect">
            <a:avLst>
              <a:gd name="adj" fmla="val 1882"/>
            </a:avLst>
          </a:prstGeom>
          <a:solidFill>
            <a:srgbClr val="3B241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92440" y="1645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17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MIX INSIGHT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01168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dominate: Fresh Juice, Cold Coffee, Coffee, Frappe, Smoothie and Tea fill 6 of the top 8 spots.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Juice outsells classic Coffee — a signal that health-conscious, cold options are gaining ground.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items (Sandwich, Burger, Dessert, Wrap) trail behind, suggesting an opportunity to grow food attach-rate alongside drink orders.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Café Pvt. Ltd.  |  Sales &amp; Operations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the Busiest Hours of the Day?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orders by store operating-hour window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120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463040"/>
            <a:ext cx="5760720" cy="4572000"/>
          </a:xfrm>
          <a:prstGeom prst="roundRect">
            <a:avLst>
              <a:gd name="adj" fmla="val 1600"/>
            </a:avLst>
          </a:prstGeom>
          <a:solidFill>
            <a:srgbClr val="F3E9D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63640" y="17373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17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READING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2103120"/>
            <a:ext cx="52120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Extended-hours outlets (7 AM–11 PM) capture the majority share of traffic — nearly two-thirds of all orders — confirming that longer opening windows drive volume.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Mid-length shifts (8 AM–10 PM) hold a meaningful secondary share; these outlets may be able to extend hours to capture more evening demand.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shortest window (7 AM–10 PM) contributes least, which — combined with footfall growth — points to congestion risk if hours aren't extended at these locations.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align staffing rosters to the true peak window rather than a flat shift pattern, and pilot extended hours at the shortest-window outlets.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Café Pvt. Ltd.  |  Sales &amp; Operations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Campaigns Generate the Highest Sales?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campaigns ranked by sales impact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3152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417320"/>
            <a:ext cx="3703320" cy="4663440"/>
          </a:xfrm>
          <a:prstGeom prst="roundRect">
            <a:avLst>
              <a:gd name="adj" fmla="val 1975"/>
            </a:avLst>
          </a:prstGeom>
          <a:solidFill>
            <a:srgbClr val="3B241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75320" y="1645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17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TAKEAWAYS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01168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Seasonal, limited-time campaigns (Christmas Delight, Summer Chillers) outperform always-on offers.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Value-driven promos (Coffee Lovers Week, Buy 1 Get 1) sit in the strong middle tier — good for steady footfall.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Rewards ranks lowest in sales lift, suggesting it should be re-designed as a retention tool rather than a sales driver.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Café Pvt. Ltd.  |  Sales &amp; Operations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 &amp; Preferred Payment Methods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3E9D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17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CUSTOMER SEGMENT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011680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1520" y="53949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contribute a slightly higher share of revenue, making them a priority segment for targeted offers and loyalty campaigns.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035040" y="1417320"/>
            <a:ext cx="5669280" cy="4663440"/>
          </a:xfrm>
          <a:prstGeom prst="roundRect">
            <a:avLst>
              <a:gd name="adj" fmla="val 1569"/>
            </a:avLst>
          </a:prstGeom>
          <a:solidFill>
            <a:srgbClr val="3B241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09360" y="16459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17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PAYMENT METHODS</a:t>
            </a:r>
            <a:endParaRPr lang="en-US" sz="11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309360" y="2011680"/>
          <a:ext cx="3108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9555480" y="2011680"/>
            <a:ext cx="1965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leads overall payment preference, with Cash and Card close behind.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"Google Pay", "GPay" and "GooglePay" appear as separate entries in the source data — a data-cleaning fix would likely push this combined method into the top spot.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Café Pvt. Ltd.  |  Sales &amp; Operations Analysis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Products Receive the Highest Ratings?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leaders across the menu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3152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417320"/>
            <a:ext cx="3703320" cy="4663440"/>
          </a:xfrm>
          <a:prstGeom prst="roundRect">
            <a:avLst>
              <a:gd name="adj" fmla="val 1975"/>
            </a:avLst>
          </a:prstGeom>
          <a:solidFill>
            <a:srgbClr val="F3E9D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75320" y="1645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17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INSIGHT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01168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 Burger and Iced Lemon Tea are the clear customer favourites — strong candidates to feature in promotions.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items rate as highly as beverages here, even though beverages sell in far greater volume — a cross-sell opportunity.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Cappuccino, despite being a menu staple, ranks lowest of the top 8 — worth a recipe or consistency review.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Café Pvt. Ltd.  |  Sales &amp; Operations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Outlets Need Operational Improvement?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locations and the reasons behind each flag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374904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Signal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Cause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revenue &amp; profit of all outlets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footfall / limited 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Trichy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Below-average profit conversion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discounting via campaigns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Thanjavur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Mid-pack revenue, thin margins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cost base or wastage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Vellore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Shorter operating window (7 AM–10 PM)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evening peak demand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1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54864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374904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2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Signal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2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Cause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2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2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416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52628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F3E9DA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31520" y="47091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17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"IMPROVEMENT" MEANS HERE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50292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outlets aren't necessarily failing — they're underperforming relative to the network average on revenue, profit conversion, or operating hours. Each needs a different fix: Salem needs demand generation, Trichy needs discipline on discounting, Thanjavur needs a cost review, and Vellore has a straightforward hours extension available.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Café Pvt. Ltd.  |  Sales &amp; Operations Analysis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to lift sales and customer experience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F3E9D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C17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00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hours strategically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75688"/>
            <a:ext cx="4983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the 7 AM–11 PM window at Vellore and other short-hour outlets to capture evening demand already proven at top performers.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F3E9DA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645920"/>
            <a:ext cx="365760" cy="365760"/>
          </a:xfrm>
          <a:prstGeom prst="ellipse">
            <a:avLst/>
          </a:prstGeom>
          <a:solidFill>
            <a:srgbClr val="C17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600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Rebalance the food menu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075688"/>
            <a:ext cx="4983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food attach-rate (Burger, Sandwich, Wrap) alongside top beverages via combo pricing, since food items rate as highly as drinks but sell far less.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1810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3B2416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346704"/>
            <a:ext cx="365760" cy="365760"/>
          </a:xfrm>
          <a:prstGeom prst="ellipse">
            <a:avLst/>
          </a:prstGeom>
          <a:solidFill>
            <a:srgbClr val="C17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30098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payment-method data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776472"/>
            <a:ext cx="4983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Google Pay, GPay and GooglePay into one category to get an accurate read on digital-wallet share and target UPI/wallet promotions.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11810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F3E9D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3346704"/>
            <a:ext cx="365760" cy="365760"/>
          </a:xfrm>
          <a:prstGeom prst="ellipse">
            <a:avLst/>
          </a:prstGeom>
          <a:solidFill>
            <a:srgbClr val="C17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30098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low-margin outlets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776472"/>
            <a:ext cx="4983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discounting discipline at Trichy and cost structure at Thanjavur; both show healthy revenue but weak profit conversion.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818888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F3E9DA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5047488"/>
            <a:ext cx="365760" cy="365760"/>
          </a:xfrm>
          <a:prstGeom prst="ellipse">
            <a:avLst/>
          </a:prstGeom>
          <a:solidFill>
            <a:srgbClr val="C179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50017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down on seasonal campaigns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477256"/>
            <a:ext cx="4983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Christmas Delight and Summer Chillers outperform always-on offers — plan a yearly seasonal-campaign calendar instead of relying on evergreen loyalty schemes.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4818888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3B2416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5047488"/>
            <a:ext cx="365760" cy="365760"/>
          </a:xfrm>
          <a:prstGeom prst="ellipse">
            <a:avLst/>
          </a:prstGeom>
          <a:solidFill>
            <a:srgbClr val="C1793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6520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50017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the female customer segment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5477256"/>
            <a:ext cx="4983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slightly higher revenue share, tailor loyalty and referral programs to this segment while maintaining broad appeal.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BrewBean Café Pvt. Ltd.  |  Sales &amp; Operations Analysis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8A624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657600" cy="3657600"/>
          </a:xfrm>
          <a:prstGeom prst="ellipse">
            <a:avLst/>
          </a:prstGeom>
          <a:solidFill>
            <a:srgbClr val="C1793B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7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THOUGHT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Consistency, not just growth, is BrewBean's next opportunity.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 is already rising across Tamil Nadu. The data points to clear, low-risk levers — smarter hours, cleaner payment tracking, tighter discounting, and a stronger food-and-beverage pairing strategy — that can turn that growth into steady, predictable profit at every outlet.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52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&amp; Discussion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2026-09-11T02:35:42Z</dcterms:created>
  <dcterms:modified xsi:type="dcterms:W3CDTF">2026-09-11T02:35:42Z</dcterms:modified>
</cp:coreProperties>
</file>